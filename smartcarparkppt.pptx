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7" r:id="rId3"/>
    <p:sldId id="258" r:id="rId4"/>
    <p:sldId id="259" r:id="rId5"/>
    <p:sldId id="260" r:id="rId6"/>
    <p:sldId id="261" r:id="rId7"/>
    <p:sldId id="262" r:id="rId8"/>
    <p:sldId id="263" r:id="rId9"/>
    <p:sldId id="264" r:id="rId10"/>
    <p:sldId id="281" r:id="rId11"/>
    <p:sldId id="283" r:id="rId12"/>
    <p:sldId id="284" r:id="rId13"/>
    <p:sldId id="285" r:id="rId14"/>
    <p:sldId id="286" r:id="rId15"/>
    <p:sldId id="287" r:id="rId16"/>
    <p:sldId id="291" r:id="rId17"/>
    <p:sldId id="288" r:id="rId18"/>
    <p:sldId id="280" r:id="rId19"/>
    <p:sldId id="28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D6C15-2D0D-4272-BD9A-8327C2FE1059}" v="2" dt="2026-03-23T16:22:16.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23" autoAdjust="0"/>
    <p:restoredTop sz="94660"/>
  </p:normalViewPr>
  <p:slideViewPr>
    <p:cSldViewPr snapToGrid="0">
      <p:cViewPr varScale="1">
        <p:scale>
          <a:sx n="76" d="100"/>
          <a:sy n="76" d="100"/>
        </p:scale>
        <p:origin x="6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7D8AA-A471-9FCE-7570-0BDED74577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2D2462-B65D-C052-8223-0B43FADCB1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A11FEC-41E9-FF60-9FB9-817F8BCEEEE7}"/>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072D9EAB-D6C0-C000-0CC7-169699533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3F85BA-465E-F1DE-316F-6A42B07EF8ED}"/>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269176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53D9-B3AA-27B9-47F4-FA894B5CD9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5E309C-4685-6CBB-F4C0-3016DE7767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8C414-4E00-65EA-19E0-63C94A4A64F1}"/>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F186BEDA-5961-78AC-9B68-3BB0387A88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83BF2D-BE5D-1F8A-0AF1-AEE902F20477}"/>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092087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FA1E3-32A2-15F3-F5CA-A6A5064217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DA18A2-BDCF-73CF-AC1B-18E586FA1F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38740A-F374-831A-B7B9-060E85C13A8B}"/>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8E58B8BA-0F41-6565-C70C-F129944D4D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ED7AA2-8410-D41A-45D6-B288086FBB7C}"/>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1066824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AD67E-197F-AD17-5118-FC7BCFF3C5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25D8E7-5646-D738-2377-980A9D34FE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C0553B-DA03-B955-0350-6D2D94E19E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9E80DD-233E-3212-75A2-601EDB666561}"/>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6" name="Footer Placeholder 5">
            <a:extLst>
              <a:ext uri="{FF2B5EF4-FFF2-40B4-BE49-F238E27FC236}">
                <a16:creationId xmlns:a16="http://schemas.microsoft.com/office/drawing/2014/main" id="{6E233FCF-8FAB-037E-78B2-3241C53FA0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2D91E4-2F68-C12F-B67D-5D420A513E91}"/>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112567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58D61-A0D9-1992-47CB-46E6B5BA46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071B65-72E9-4D65-34F4-02C156AD6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BDEFC1-4095-E4DB-3788-87FD7ACEFD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B3FB25-B908-1EB7-361A-D3B8F55EC2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2F3BA8-372D-AD8D-5CE8-48A3F95410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82B2FD-43F5-3862-20D4-576D068CAE1D}"/>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8" name="Footer Placeholder 7">
            <a:extLst>
              <a:ext uri="{FF2B5EF4-FFF2-40B4-BE49-F238E27FC236}">
                <a16:creationId xmlns:a16="http://schemas.microsoft.com/office/drawing/2014/main" id="{C90AB8B3-3F09-049C-06D0-731966158A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9F06666-1DD7-477C-D3B6-BA58BF75BE8D}"/>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798342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725D0-B636-97F1-DF1F-269CE54CD0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B8AC4B-3227-3A77-8934-AD7D6E976871}"/>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4" name="Footer Placeholder 3">
            <a:extLst>
              <a:ext uri="{FF2B5EF4-FFF2-40B4-BE49-F238E27FC236}">
                <a16:creationId xmlns:a16="http://schemas.microsoft.com/office/drawing/2014/main" id="{E2664538-452B-F905-305F-BFCD865BEE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1CFDBC-4315-5EFE-4B72-E164D6794246}"/>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2110609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884DBF-E1D2-5693-FCEA-E65B8A767718}"/>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3" name="Footer Placeholder 2">
            <a:extLst>
              <a:ext uri="{FF2B5EF4-FFF2-40B4-BE49-F238E27FC236}">
                <a16:creationId xmlns:a16="http://schemas.microsoft.com/office/drawing/2014/main" id="{C9053CA9-1711-AC23-21AC-5AF3A9B0FF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583E5B-6206-A081-9AF4-29564D99743C}"/>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65628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9D10-1AC3-FF0B-1DE2-54E19076E8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C97737-DB85-D2B9-39E7-2E63C4D25F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68CEEAA-13F8-176C-5E39-E0D679389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5A9323-40EB-DB21-3D50-55615FF38D99}"/>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6" name="Footer Placeholder 5">
            <a:extLst>
              <a:ext uri="{FF2B5EF4-FFF2-40B4-BE49-F238E27FC236}">
                <a16:creationId xmlns:a16="http://schemas.microsoft.com/office/drawing/2014/main" id="{515D40E7-716E-1049-0B95-E7E997135F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3599E9-6C38-4261-ECE3-8A5DDB97A726}"/>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1363543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A9BB0-7BFD-107B-E535-6CCADC455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0EC6E8-BC2B-EC56-5ECF-C1CA9B75E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66D3E6-D887-A6FC-FD52-3E8181C120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308FDE-DBF0-29B3-5B19-4B951151324E}"/>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6" name="Footer Placeholder 5">
            <a:extLst>
              <a:ext uri="{FF2B5EF4-FFF2-40B4-BE49-F238E27FC236}">
                <a16:creationId xmlns:a16="http://schemas.microsoft.com/office/drawing/2014/main" id="{815317CF-0EAC-4C01-2565-CCC1B49B06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AF9817-40B5-4FE3-BFD2-592E7944A18B}"/>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591517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C2FD-45C8-1652-F25A-E727916722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33D01B-AADF-67E3-A594-A2B89D7526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270BF6-E87C-C934-8DA6-DC95044828C5}"/>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2D45C635-D6D0-D1C9-BB6B-9C995C5EB8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B6B7DD-FE18-4168-93AF-AB0DFD469017}"/>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8593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689DC-0417-0359-67B6-430E29C0AD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709798-1173-CFE7-DFA9-1B33E6B485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CB688C-C58C-2DBD-B40D-ECF299B3657D}"/>
              </a:ext>
            </a:extLst>
          </p:cNvPr>
          <p:cNvSpPr>
            <a:spLocks noGrp="1"/>
          </p:cNvSpPr>
          <p:nvPr>
            <p:ph type="dt" sz="half" idx="10"/>
          </p:nvPr>
        </p:nvSpPr>
        <p:spPr/>
        <p:txBody>
          <a:body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9538F575-F88B-CB4D-3B8A-DAA0863768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54CCF-A763-97CD-CF48-09D641618330}"/>
              </a:ext>
            </a:extLst>
          </p:cNvPr>
          <p:cNvSpPr>
            <a:spLocks noGrp="1"/>
          </p:cNvSpPr>
          <p:nvPr>
            <p:ph type="sldNum" sz="quarter" idx="12"/>
          </p:nvPr>
        </p:nvSpPr>
        <p:spPr/>
        <p:txBody>
          <a:bodyPr/>
          <a:lstStyle/>
          <a:p>
            <a:fld id="{3CD46F82-2C88-4C12-B552-027FBD9DB79D}" type="slidenum">
              <a:rPr lang="en-IN" smtClean="0"/>
              <a:t>‹#›</a:t>
            </a:fld>
            <a:endParaRPr lang="en-IN"/>
          </a:p>
        </p:txBody>
      </p:sp>
    </p:spTree>
    <p:extLst>
      <p:ext uri="{BB962C8B-B14F-4D97-AF65-F5344CB8AC3E}">
        <p14:creationId xmlns:p14="http://schemas.microsoft.com/office/powerpoint/2010/main" val="3738445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BD189F-2722-BA3C-EB25-D185BD030A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E27BB0-E433-A60B-D0A2-F169909313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8FD232-63B7-07A7-CCB1-2159E85101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138E01-7E25-4F45-A6F7-7F4BA736D396}" type="datetimeFigureOut">
              <a:rPr lang="en-IN" smtClean="0"/>
              <a:t>04-04-2026</a:t>
            </a:fld>
            <a:endParaRPr lang="en-IN"/>
          </a:p>
        </p:txBody>
      </p:sp>
      <p:sp>
        <p:nvSpPr>
          <p:cNvPr id="5" name="Footer Placeholder 4">
            <a:extLst>
              <a:ext uri="{FF2B5EF4-FFF2-40B4-BE49-F238E27FC236}">
                <a16:creationId xmlns:a16="http://schemas.microsoft.com/office/drawing/2014/main" id="{FB45DD73-5DA7-217D-5788-231F269FD7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3DE0D2-0FAA-2869-B53E-27FDEC2149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D46F82-2C88-4C12-B552-027FBD9DB79D}" type="slidenum">
              <a:rPr lang="en-IN" smtClean="0"/>
              <a:t>‹#›</a:t>
            </a:fld>
            <a:endParaRPr lang="en-IN"/>
          </a:p>
        </p:txBody>
      </p:sp>
    </p:spTree>
    <p:extLst>
      <p:ext uri="{BB962C8B-B14F-4D97-AF65-F5344CB8AC3E}">
        <p14:creationId xmlns:p14="http://schemas.microsoft.com/office/powerpoint/2010/main" val="400041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67974" y="346998"/>
            <a:ext cx="8356516" cy="1455783"/>
          </a:xfrm>
          <a:prstGeom prst="rect">
            <a:avLst/>
          </a:prstGeom>
        </p:spPr>
        <p:txBody>
          <a:bodyPr wrap="square" lIns="0" tIns="0" rIns="0" bIns="0" rtlCol="0" anchor="t">
            <a:spAutoFit/>
          </a:bodyPr>
          <a:lstStyle/>
          <a:p>
            <a:pPr algn="ctr">
              <a:lnSpc>
                <a:spcPts val="1749"/>
              </a:lnSpc>
            </a:pPr>
            <a:r>
              <a:rPr lang="en-US" sz="2000" b="1" spc="-17" dirty="0">
                <a:solidFill>
                  <a:srgbClr val="FF0000"/>
                </a:solidFill>
                <a:latin typeface="Times New Roman" panose="02020603050405020304" pitchFamily="18" charset="0"/>
                <a:cs typeface="Times New Roman" panose="02020603050405020304" pitchFamily="18" charset="0"/>
              </a:rPr>
              <a:t>MALLAREDDY</a:t>
            </a:r>
            <a:r>
              <a:rPr lang="en-US" sz="2000" b="1" spc="-54"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INSTITUTE</a:t>
            </a:r>
            <a:r>
              <a:rPr lang="en-US" sz="2000" b="1" spc="-17"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OF</a:t>
            </a:r>
            <a:r>
              <a:rPr lang="en-US" sz="2000" b="1" spc="-87" dirty="0">
                <a:solidFill>
                  <a:srgbClr val="FF0000"/>
                </a:solidFill>
                <a:latin typeface="Times New Roman" panose="02020603050405020304" pitchFamily="18" charset="0"/>
                <a:cs typeface="Times New Roman" panose="02020603050405020304" pitchFamily="18" charset="0"/>
              </a:rPr>
              <a:t> </a:t>
            </a:r>
            <a:r>
              <a:rPr lang="en-US" sz="2000" b="1" spc="-17" dirty="0">
                <a:solidFill>
                  <a:srgbClr val="FF0000"/>
                </a:solidFill>
                <a:latin typeface="Times New Roman" panose="02020603050405020304" pitchFamily="18" charset="0"/>
                <a:cs typeface="Times New Roman" panose="02020603050405020304" pitchFamily="18" charset="0"/>
              </a:rPr>
              <a:t>ENGINEERING</a:t>
            </a:r>
            <a:r>
              <a:rPr lang="en-US" sz="2000" b="1" spc="-109"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AND</a:t>
            </a:r>
            <a:r>
              <a:rPr lang="en-US" sz="2000" b="1" spc="-9" dirty="0">
                <a:solidFill>
                  <a:srgbClr val="FF0000"/>
                </a:solidFill>
                <a:latin typeface="Times New Roman" panose="02020603050405020304" pitchFamily="18" charset="0"/>
                <a:cs typeface="Times New Roman" panose="02020603050405020304" pitchFamily="18" charset="0"/>
              </a:rPr>
              <a:t> TECHNOLOGY</a:t>
            </a:r>
          </a:p>
          <a:p>
            <a:pPr algn="ctr">
              <a:lnSpc>
                <a:spcPts val="1749"/>
              </a:lnSpc>
            </a:pPr>
            <a:endParaRPr lang="en-IN" sz="1667" dirty="0">
              <a:latin typeface="Times New Roman" panose="02020603050405020304" pitchFamily="18" charset="0"/>
              <a:cs typeface="Times New Roman" panose="02020603050405020304" pitchFamily="18" charset="0"/>
            </a:endParaRPr>
          </a:p>
          <a:p>
            <a:pPr algn="ctr">
              <a:lnSpc>
                <a:spcPts val="1749"/>
              </a:lnSpc>
            </a:pPr>
            <a:r>
              <a:rPr lang="en-US" sz="1667" dirty="0">
                <a:solidFill>
                  <a:srgbClr val="000000"/>
                </a:solidFill>
                <a:latin typeface="Times New Roman Bold"/>
              </a:rPr>
              <a:t>Major Project Stage-2</a:t>
            </a:r>
          </a:p>
          <a:p>
            <a:pPr algn="ctr">
              <a:lnSpc>
                <a:spcPts val="1749"/>
              </a:lnSpc>
            </a:pPr>
            <a:endParaRPr lang="en-US" sz="1667" dirty="0">
              <a:solidFill>
                <a:srgbClr val="000000"/>
              </a:solidFill>
              <a:latin typeface="Times New Roman Bold"/>
            </a:endParaRPr>
          </a:p>
          <a:p>
            <a:pPr algn="ctr">
              <a:lnSpc>
                <a:spcPts val="1749"/>
              </a:lnSpc>
            </a:pPr>
            <a:r>
              <a:rPr lang="en-US" sz="1619" dirty="0">
                <a:solidFill>
                  <a:srgbClr val="000000"/>
                </a:solidFill>
                <a:latin typeface="Times New Roman Bold"/>
              </a:rPr>
              <a:t>On</a:t>
            </a:r>
          </a:p>
          <a:p>
            <a:pPr algn="ctr">
              <a:lnSpc>
                <a:spcPct val="150000"/>
              </a:lnSpc>
            </a:pPr>
            <a:r>
              <a:rPr lang="en-US" dirty="0">
                <a:latin typeface="Times New Roman Bold"/>
              </a:rPr>
              <a:t>SMART CAR PARKING AND NUMBER PLATE RECOGNITION USING AI</a:t>
            </a:r>
            <a:endParaRPr lang="en-US" sz="2160" dirty="0">
              <a:solidFill>
                <a:srgbClr val="000000"/>
              </a:solidFill>
              <a:latin typeface="Times New Roman Bold"/>
            </a:endParaRPr>
          </a:p>
        </p:txBody>
      </p:sp>
      <p:sp>
        <p:nvSpPr>
          <p:cNvPr id="3" name="TextBox 3"/>
          <p:cNvSpPr txBox="1"/>
          <p:nvPr/>
        </p:nvSpPr>
        <p:spPr>
          <a:xfrm>
            <a:off x="547890" y="2730028"/>
            <a:ext cx="4898317" cy="2708690"/>
          </a:xfrm>
          <a:prstGeom prst="rect">
            <a:avLst/>
          </a:prstGeom>
        </p:spPr>
        <p:txBody>
          <a:bodyPr wrap="square" lIns="0" tIns="0" rIns="0" bIns="0" rtlCol="0" anchor="t">
            <a:spAutoFit/>
          </a:bodyPr>
          <a:lstStyle/>
          <a:p>
            <a:pPr>
              <a:lnSpc>
                <a:spcPts val="2400"/>
              </a:lnSpc>
            </a:pPr>
            <a:r>
              <a:rPr lang="en-US" b="1" dirty="0">
                <a:solidFill>
                  <a:srgbClr val="000000"/>
                </a:solidFill>
                <a:latin typeface="Times New Roman Bold"/>
              </a:rPr>
              <a:t>GUIDED BY:</a:t>
            </a:r>
          </a:p>
          <a:p>
            <a:pPr>
              <a:lnSpc>
                <a:spcPts val="2400"/>
              </a:lnSpc>
            </a:pPr>
            <a:r>
              <a:rPr lang="en-US" sz="2000" b="1" dirty="0">
                <a:solidFill>
                  <a:srgbClr val="000000"/>
                </a:solidFill>
                <a:latin typeface="Times New Roman"/>
              </a:rPr>
              <a:t> </a:t>
            </a:r>
          </a:p>
          <a:p>
            <a:pPr>
              <a:lnSpc>
                <a:spcPts val="2400"/>
              </a:lnSpc>
            </a:pPr>
            <a:r>
              <a:rPr lang="en-US" dirty="0">
                <a:solidFill>
                  <a:srgbClr val="000000"/>
                </a:solidFill>
                <a:latin typeface="Times New Roman"/>
              </a:rPr>
              <a:t>Mrs. M. SHENBAGAM , </a:t>
            </a:r>
          </a:p>
          <a:p>
            <a:pPr>
              <a:lnSpc>
                <a:spcPts val="3600"/>
              </a:lnSpc>
            </a:pPr>
            <a:r>
              <a:rPr lang="en-US" dirty="0">
                <a:latin typeface="Times New Roman" panose="02020603050405020304" pitchFamily="18" charset="0"/>
                <a:cs typeface="Times New Roman" panose="02020603050405020304" pitchFamily="18" charset="0"/>
              </a:rPr>
              <a:t>Assistant Professor,</a:t>
            </a:r>
            <a:endParaRPr lang="en-US" dirty="0">
              <a:solidFill>
                <a:srgbClr val="000000"/>
              </a:solidFill>
              <a:latin typeface="Times New Roman"/>
            </a:endParaRPr>
          </a:p>
          <a:p>
            <a:pPr>
              <a:lnSpc>
                <a:spcPts val="3600"/>
              </a:lnSpc>
            </a:pPr>
            <a:r>
              <a:rPr lang="en-US" dirty="0">
                <a:solidFill>
                  <a:srgbClr val="000000"/>
                </a:solidFill>
                <a:latin typeface="Times New Roman"/>
              </a:rPr>
              <a:t>Department of Computer Science &amp; Engineering</a:t>
            </a:r>
          </a:p>
          <a:p>
            <a:pPr>
              <a:lnSpc>
                <a:spcPts val="3600"/>
              </a:lnSpc>
            </a:pPr>
            <a:endParaRPr lang="en-US" dirty="0">
              <a:solidFill>
                <a:srgbClr val="000000"/>
              </a:solidFill>
              <a:latin typeface="Times New Roman"/>
            </a:endParaRPr>
          </a:p>
          <a:p>
            <a:pPr>
              <a:lnSpc>
                <a:spcPts val="3600"/>
              </a:lnSpc>
            </a:pPr>
            <a:r>
              <a:rPr lang="en-US" dirty="0">
                <a:solidFill>
                  <a:srgbClr val="000000"/>
                </a:solidFill>
                <a:latin typeface="Times New Roman"/>
              </a:rPr>
              <a:t> </a:t>
            </a:r>
          </a:p>
        </p:txBody>
      </p:sp>
      <p:sp>
        <p:nvSpPr>
          <p:cNvPr id="4" name="TextBox 4"/>
          <p:cNvSpPr txBox="1"/>
          <p:nvPr/>
        </p:nvSpPr>
        <p:spPr>
          <a:xfrm>
            <a:off x="7526215" y="2619497"/>
            <a:ext cx="4567956" cy="2674065"/>
          </a:xfrm>
          <a:prstGeom prst="rect">
            <a:avLst/>
          </a:prstGeom>
        </p:spPr>
        <p:txBody>
          <a:bodyPr wrap="square" lIns="0" tIns="0" rIns="0" bIns="0" rtlCol="0" anchor="t">
            <a:spAutoFit/>
          </a:bodyPr>
          <a:lstStyle/>
          <a:p>
            <a:pPr>
              <a:lnSpc>
                <a:spcPct val="150000"/>
              </a:lnSpc>
            </a:pPr>
            <a:r>
              <a:rPr lang="en-IN" b="1" dirty="0">
                <a:latin typeface="Times New Roman" panose="02020603050405020304" pitchFamily="18" charset="0"/>
                <a:cs typeface="Times New Roman" panose="02020603050405020304" pitchFamily="18" charset="0"/>
              </a:rPr>
              <a:t>PRESENTED</a:t>
            </a:r>
            <a:r>
              <a:rPr lang="en-IN" sz="2000" b="1" dirty="0">
                <a:latin typeface="Times New Roman" panose="02020603050405020304" pitchFamily="18" charset="0"/>
                <a:cs typeface="Times New Roman" panose="02020603050405020304" pitchFamily="18" charset="0"/>
              </a:rPr>
              <a:t> BY:</a:t>
            </a:r>
          </a:p>
          <a:p>
            <a:pPr>
              <a:lnSpc>
                <a:spcPct val="150000"/>
              </a:lnSpc>
            </a:pPr>
            <a:r>
              <a:rPr lang="en-IN" sz="1600" dirty="0">
                <a:latin typeface="Times New Roman" panose="02020603050405020304" pitchFamily="18" charset="0"/>
                <a:cs typeface="Times New Roman" panose="02020603050405020304" pitchFamily="18" charset="0"/>
              </a:rPr>
              <a:t>K.SANJANA		(23W95A0515)</a:t>
            </a:r>
          </a:p>
          <a:p>
            <a:pPr>
              <a:lnSpc>
                <a:spcPct val="150000"/>
              </a:lnSpc>
            </a:pPr>
            <a:r>
              <a:rPr lang="en-IN" sz="1600" dirty="0">
                <a:latin typeface="Times New Roman" panose="02020603050405020304" pitchFamily="18" charset="0"/>
                <a:cs typeface="Times New Roman" panose="02020603050405020304" pitchFamily="18" charset="0"/>
              </a:rPr>
              <a:t>D.ANUSHA 		(23W95A0509)</a:t>
            </a:r>
          </a:p>
          <a:p>
            <a:pPr>
              <a:lnSpc>
                <a:spcPct val="150000"/>
              </a:lnSpc>
            </a:pPr>
            <a:r>
              <a:rPr lang="en-IN" sz="1600" dirty="0">
                <a:latin typeface="Times New Roman" panose="02020603050405020304" pitchFamily="18" charset="0"/>
                <a:cs typeface="Times New Roman" panose="02020603050405020304" pitchFamily="18" charset="0"/>
              </a:rPr>
              <a:t>G.HANVITHA		(23W95A0513)</a:t>
            </a:r>
          </a:p>
          <a:p>
            <a:pPr>
              <a:lnSpc>
                <a:spcPct val="150000"/>
              </a:lnSpc>
            </a:pPr>
            <a:r>
              <a:rPr lang="en-IN" sz="1600" dirty="0">
                <a:latin typeface="Times New Roman" panose="02020603050405020304" pitchFamily="18" charset="0"/>
                <a:cs typeface="Times New Roman" panose="02020603050405020304" pitchFamily="18" charset="0"/>
              </a:rPr>
              <a:t>K.RUPA SRI		(23W95A0514)</a:t>
            </a:r>
          </a:p>
          <a:p>
            <a:pPr>
              <a:lnSpc>
                <a:spcPct val="150000"/>
              </a:lnSpc>
            </a:pPr>
            <a:endParaRPr lang="en-IN" sz="16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b="1" dirty="0">
                <a:solidFill>
                  <a:srgbClr val="000000"/>
                </a:solidFill>
                <a:latin typeface="Times New Roman"/>
                <a:cs typeface="Times New Roman" panose="02020603050405020304" pitchFamily="18" charset="0"/>
              </a:rPr>
              <a:t>                           </a:t>
            </a:r>
            <a:endParaRPr lang="en-IN" b="1" dirty="0">
              <a:solidFill>
                <a:srgbClr val="000000"/>
              </a:solidFill>
              <a:latin typeface="Times New Roman" panose="02020603050405020304" pitchFamily="18" charset="0"/>
              <a:cs typeface="Times New Roman" panose="02020603050405020304" pitchFamily="18" charset="0"/>
            </a:endParaRPr>
          </a:p>
        </p:txBody>
      </p:sp>
      <p:sp>
        <p:nvSpPr>
          <p:cNvPr id="5" name="Freeform 5"/>
          <p:cNvSpPr/>
          <p:nvPr/>
        </p:nvSpPr>
        <p:spPr>
          <a:xfrm>
            <a:off x="547890" y="408331"/>
            <a:ext cx="1070337" cy="956548"/>
          </a:xfrm>
          <a:custGeom>
            <a:avLst/>
            <a:gdLst/>
            <a:ahLst/>
            <a:cxnLst/>
            <a:rect l="l" t="t" r="r" b="b"/>
            <a:pathLst>
              <a:path w="1278082" h="1156639">
                <a:moveTo>
                  <a:pt x="0" y="0"/>
                </a:moveTo>
                <a:lnTo>
                  <a:pt x="1278082" y="0"/>
                </a:lnTo>
                <a:lnTo>
                  <a:pt x="1278082" y="1156639"/>
                </a:lnTo>
                <a:lnTo>
                  <a:pt x="0" y="1156639"/>
                </a:lnTo>
                <a:lnTo>
                  <a:pt x="0" y="0"/>
                </a:lnTo>
                <a:close/>
              </a:path>
            </a:pathLst>
          </a:custGeom>
          <a:blipFill>
            <a:blip r:embed="rId2"/>
            <a:stretch>
              <a:fillRect t="-5249" b="-5249"/>
            </a:stretch>
          </a:blipFill>
        </p:spPr>
        <p:txBody>
          <a:bodyPr/>
          <a:lstStyle/>
          <a:p>
            <a:endParaRPr lang="en-IN" sz="1500" dirty="0"/>
          </a:p>
        </p:txBody>
      </p:sp>
      <p:pic>
        <p:nvPicPr>
          <p:cNvPr id="6" name="object 7">
            <a:extLst>
              <a:ext uri="{FF2B5EF4-FFF2-40B4-BE49-F238E27FC236}">
                <a16:creationId xmlns:a16="http://schemas.microsoft.com/office/drawing/2014/main" id="{5105B30A-A06A-3D49-BA03-AF623FB54F72}"/>
              </a:ext>
            </a:extLst>
          </p:cNvPr>
          <p:cNvPicPr/>
          <p:nvPr/>
        </p:nvPicPr>
        <p:blipFill>
          <a:blip r:embed="rId3" cstate="print"/>
          <a:stretch>
            <a:fillRect/>
          </a:stretch>
        </p:blipFill>
        <p:spPr>
          <a:xfrm>
            <a:off x="10174405" y="533984"/>
            <a:ext cx="779868" cy="656039"/>
          </a:xfrm>
          <a:prstGeom prst="rect">
            <a:avLst/>
          </a:prstGeom>
        </p:spPr>
      </p:pic>
      <p:pic>
        <p:nvPicPr>
          <p:cNvPr id="7" name="object 9">
            <a:extLst>
              <a:ext uri="{FF2B5EF4-FFF2-40B4-BE49-F238E27FC236}">
                <a16:creationId xmlns:a16="http://schemas.microsoft.com/office/drawing/2014/main" id="{A49273A8-2A78-0484-E231-C7E212AC3276}"/>
              </a:ext>
            </a:extLst>
          </p:cNvPr>
          <p:cNvPicPr/>
          <p:nvPr/>
        </p:nvPicPr>
        <p:blipFill>
          <a:blip r:embed="rId4" cstate="print"/>
          <a:stretch>
            <a:fillRect/>
          </a:stretch>
        </p:blipFill>
        <p:spPr>
          <a:xfrm>
            <a:off x="11054104" y="508425"/>
            <a:ext cx="872425" cy="6560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7023-9DA0-E069-5175-C3E294561060}"/>
              </a:ext>
            </a:extLst>
          </p:cNvPr>
          <p:cNvSpPr>
            <a:spLocks noGrp="1"/>
          </p:cNvSpPr>
          <p:nvPr>
            <p:ph type="title"/>
          </p:nvPr>
        </p:nvSpPr>
        <p:spPr>
          <a:xfrm>
            <a:off x="838200" y="365126"/>
            <a:ext cx="10515600" cy="686926"/>
          </a:xfrm>
        </p:spPr>
        <p:txBody>
          <a:bodyPr>
            <a:normAutofit/>
          </a:bodyPr>
          <a:lstStyle/>
          <a:p>
            <a:pPr algn="ctr"/>
            <a:r>
              <a:rPr lang="en-US" sz="2400" b="1" dirty="0">
                <a:latin typeface="Times New Roman" panose="02020603050405020304" pitchFamily="18" charset="0"/>
                <a:cs typeface="Times New Roman" panose="02020603050405020304" pitchFamily="18" charset="0"/>
              </a:rPr>
              <a:t>ABSTRACT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D9CF65-7050-D307-3A2C-26C5EF126213}"/>
              </a:ext>
            </a:extLst>
          </p:cNvPr>
          <p:cNvSpPr>
            <a:spLocks noGrp="1"/>
          </p:cNvSpPr>
          <p:nvPr>
            <p:ph idx="1"/>
          </p:nvPr>
        </p:nvSpPr>
        <p:spPr>
          <a:xfrm>
            <a:off x="838200" y="1052052"/>
            <a:ext cx="10515600" cy="5124910"/>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This system automates parking lot management using Artificial Intelligence (AI) and Computer Vision technologies. It employs number plate recognition to identify vehicles automatically at the entry and exit points of the parking area. The system captures the vehicle’s image, detects the license plate, and extracts the registration number using Optical Character Recognition (OCR). The recognized plate number is then verified against a database to confirm vehicle authorization and parking availability .Once verified, the system enables seamless entry or exit by automatically controlling the gate and updating parking records in real time. By minimizing human involvement, the proposed system reduces congestion, prevents unauthorized access, and enhances overall parking management efficiency. This AI-based solution provides a scalable, reliable, and cost-effective approach for smart cities, commercial complexes, and residential parking facilities, ensuring faster vehicle processing and improved user experience.</a:t>
            </a:r>
            <a:endParaRPr lang="en-IN" sz="1600" dirty="0"/>
          </a:p>
        </p:txBody>
      </p:sp>
    </p:spTree>
    <p:extLst>
      <p:ext uri="{BB962C8B-B14F-4D97-AF65-F5344CB8AC3E}">
        <p14:creationId xmlns:p14="http://schemas.microsoft.com/office/powerpoint/2010/main" val="2909740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4AC0-D521-4103-FE5B-F11FDBF48831}"/>
              </a:ext>
            </a:extLst>
          </p:cNvPr>
          <p:cNvSpPr>
            <a:spLocks noGrp="1"/>
          </p:cNvSpPr>
          <p:nvPr>
            <p:ph type="title"/>
          </p:nvPr>
        </p:nvSpPr>
        <p:spPr>
          <a:xfrm>
            <a:off x="838200" y="365125"/>
            <a:ext cx="10515600" cy="528955"/>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SYSTEM </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857F9E-EE95-C40F-5F6F-C1444AEF9F1F}"/>
              </a:ext>
            </a:extLst>
          </p:cNvPr>
          <p:cNvSpPr>
            <a:spLocks noGrp="1"/>
          </p:cNvSpPr>
          <p:nvPr>
            <p:ph idx="1"/>
          </p:nvPr>
        </p:nvSpPr>
        <p:spPr>
          <a:xfrm>
            <a:off x="838200" y="822960"/>
            <a:ext cx="10515600" cy="5354003"/>
          </a:xfrm>
        </p:spPr>
        <p:txBody>
          <a:bodyPr>
            <a:norm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In the existing parking management systems, most operations are manual or semi-automated. Parking attendants are responsible for checking vehicles, issuing tickets, collecting fees, and recording entry or exit times. Vehicle number plates are noted manually, and verification of vehicle details is done by human staff. Parking space allocation and monitoring are also handled manually, leading to inefficiencies and delays. Some semi-automated systems may use sensors to detect car presence, but they still rely on human input for registration, verification, and record keeping</a:t>
            </a:r>
            <a:r>
              <a:rPr lang="en-US" sz="1800" dirty="0">
                <a:latin typeface="Times New Roman" panose="02020603050405020304" pitchFamily="18" charset="0"/>
                <a:cs typeface="Times New Roman" panose="02020603050405020304" pitchFamily="18" charset="0"/>
              </a:rPr>
              <a:t>.</a:t>
            </a:r>
            <a:endParaRPr lang="en-US" sz="1800" b="1" dirty="0">
              <a:latin typeface="Times New Roman" panose="02020603050405020304" pitchFamily="18" charset="0"/>
              <a:cs typeface="Times New Roman" panose="02020603050405020304" pitchFamily="18" charset="0"/>
            </a:endParaRPr>
          </a:p>
          <a:p>
            <a:pPr marL="0" indent="0" algn="just">
              <a:lnSpc>
                <a:spcPct val="160000"/>
              </a:lnSpc>
              <a:buNone/>
            </a:pPr>
            <a:r>
              <a:rPr lang="en-US" sz="1600" b="1" dirty="0">
                <a:latin typeface="Times New Roman" panose="02020603050405020304" pitchFamily="18" charset="0"/>
                <a:cs typeface="Times New Roman" panose="02020603050405020304" pitchFamily="18" charset="0"/>
              </a:rPr>
              <a:t>Disadvantages</a:t>
            </a:r>
          </a:p>
          <a:p>
            <a:pPr algn="just">
              <a:lnSpc>
                <a:spcPct val="150000"/>
              </a:lnSpc>
            </a:pPr>
            <a:r>
              <a:rPr lang="en-US" sz="1600" dirty="0">
                <a:latin typeface="Times New Roman" panose="02020603050405020304" pitchFamily="18" charset="0"/>
                <a:cs typeface="Times New Roman" panose="02020603050405020304" pitchFamily="18" charset="0"/>
              </a:rPr>
              <a:t> Manual operation Needed                                                          </a:t>
            </a:r>
          </a:p>
          <a:p>
            <a:pPr algn="just">
              <a:lnSpc>
                <a:spcPct val="150000"/>
              </a:lnSpc>
            </a:pPr>
            <a:r>
              <a:rPr lang="en-US" sz="1600" dirty="0">
                <a:latin typeface="Times New Roman" panose="02020603050405020304" pitchFamily="18" charset="0"/>
                <a:cs typeface="Times New Roman" panose="02020603050405020304" pitchFamily="18" charset="0"/>
              </a:rPr>
              <a:t>Time consuming</a:t>
            </a:r>
          </a:p>
          <a:p>
            <a:pPr algn="just">
              <a:lnSpc>
                <a:spcPct val="150000"/>
              </a:lnSpc>
            </a:pPr>
            <a:r>
              <a:rPr lang="en-US" sz="1600" dirty="0">
                <a:latin typeface="Times New Roman" panose="02020603050405020304" pitchFamily="18" charset="0"/>
                <a:cs typeface="Times New Roman" panose="02020603050405020304" pitchFamily="18" charset="0"/>
              </a:rPr>
              <a:t>Prone to human errors</a:t>
            </a:r>
          </a:p>
          <a:p>
            <a:pPr algn="just">
              <a:lnSpc>
                <a:spcPct val="150000"/>
              </a:lnSpc>
            </a:pPr>
            <a:r>
              <a:rPr lang="en-US" sz="1600" dirty="0">
                <a:latin typeface="Times New Roman" panose="02020603050405020304" pitchFamily="18" charset="0"/>
                <a:cs typeface="Times New Roman" panose="02020603050405020304" pitchFamily="18" charset="0"/>
              </a:rPr>
              <a:t>Low Security</a:t>
            </a:r>
          </a:p>
          <a:p>
            <a:pPr marL="0" indent="0" algn="just">
              <a:lnSpc>
                <a:spcPct val="160000"/>
              </a:lnSpc>
              <a:buNone/>
            </a:pPr>
            <a:endParaRPr lang="en-US" sz="1800" b="1" dirty="0">
              <a:latin typeface="Times New Roman" panose="02020603050405020304" pitchFamily="18" charset="0"/>
              <a:cs typeface="Times New Roman" panose="02020603050405020304" pitchFamily="18" charset="0"/>
            </a:endParaRPr>
          </a:p>
          <a:p>
            <a:pPr marL="0" indent="0" algn="just">
              <a:lnSpc>
                <a:spcPct val="160000"/>
              </a:lnSpc>
              <a:buNone/>
            </a:pPr>
            <a:endParaRPr lang="en-US" sz="1800" b="1" dirty="0">
              <a:latin typeface="Times New Roman" panose="02020603050405020304" pitchFamily="18" charset="0"/>
              <a:cs typeface="Times New Roman" panose="02020603050405020304" pitchFamily="18" charset="0"/>
            </a:endParaRPr>
          </a:p>
          <a:p>
            <a:pPr marL="0" indent="0" algn="just">
              <a:lnSpc>
                <a:spcPct val="160000"/>
              </a:lnSpc>
              <a:buNone/>
            </a:pPr>
            <a:endParaRPr lang="en-US" sz="1600" dirty="0">
              <a:latin typeface="Times New Roman" panose="02020603050405020304" pitchFamily="18" charset="0"/>
              <a:cs typeface="Times New Roman" panose="02020603050405020304" pitchFamily="18" charset="0"/>
            </a:endParaRPr>
          </a:p>
          <a:p>
            <a:pPr algn="just">
              <a:lnSpc>
                <a:spcPct val="16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8508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AF71D-93AB-CAEA-4847-C95E804F85A4}"/>
              </a:ext>
            </a:extLst>
          </p:cNvPr>
          <p:cNvSpPr>
            <a:spLocks noGrp="1"/>
          </p:cNvSpPr>
          <p:nvPr>
            <p:ph type="title"/>
          </p:nvPr>
        </p:nvSpPr>
        <p:spPr>
          <a:xfrm>
            <a:off x="838200" y="343792"/>
            <a:ext cx="10515600" cy="569595"/>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SYSTEM</a:t>
            </a:r>
            <a:endParaRPr lang="en-IN" sz="24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46DE5F9-C024-4C9B-1F11-284188F0758F}"/>
              </a:ext>
            </a:extLst>
          </p:cNvPr>
          <p:cNvSpPr>
            <a:spLocks noGrp="1" noChangeArrowheads="1"/>
          </p:cNvSpPr>
          <p:nvPr>
            <p:ph idx="1"/>
          </p:nvPr>
        </p:nvSpPr>
        <p:spPr bwMode="auto">
          <a:xfrm>
            <a:off x="482600" y="779822"/>
            <a:ext cx="11216640"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lang="en-US" altLang="en-US" sz="1600" dirty="0">
                <a:latin typeface="Times New Roman" panose="02020603050405020304" pitchFamily="18" charset="0"/>
                <a:cs typeface="Times New Roman" panose="02020603050405020304" pitchFamily="18" charset="0"/>
              </a:rPr>
              <a:t>The proposed system introduces an AI-based Smart Car Parking and Number Plate Recognition System that automates parking management using computer vision and machine learning. In this system, cameras placed at the entry and exit gates capture the image of each vehicle. Using AI-based number plate detection and Optical Character Recognition (OCR), the system automatically extracts the vehicle’s registration number. The recognized number is then verified with a database to check for authorization and parking availability. If the vehicle is verified, the automatic gate opens, and the system assigns an available parking slot. It also records the entry and exit times, updates the parking database, and continuously monitors slot availability. This automation removes the need for manual verification and enables faster, more secure, and more efficient parking management.</a:t>
            </a:r>
          </a:p>
          <a:p>
            <a:pPr marL="0" indent="0" algn="just" eaLnBrk="0" fontAlgn="base" hangingPunct="0">
              <a:lnSpc>
                <a:spcPct val="150000"/>
              </a:lnSpc>
              <a:spcBef>
                <a:spcPct val="0"/>
              </a:spcBef>
              <a:spcAft>
                <a:spcPct val="0"/>
              </a:spcAft>
              <a:buNone/>
            </a:pPr>
            <a:endParaRPr lang="en-US" altLang="en-US" sz="1600" dirty="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r>
              <a:rPr lang="en-US" altLang="en-US" sz="1600" b="1" dirty="0">
                <a:latin typeface="Times New Roman" panose="02020603050405020304" pitchFamily="18" charset="0"/>
                <a:cs typeface="Times New Roman" panose="02020603050405020304" pitchFamily="18" charset="0"/>
              </a:rPr>
              <a:t>Advantages</a:t>
            </a:r>
          </a:p>
          <a:p>
            <a:pPr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No Manual Operation</a:t>
            </a:r>
          </a:p>
          <a:p>
            <a:pPr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Less Time Consuming</a:t>
            </a:r>
          </a:p>
          <a:p>
            <a:pPr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High Security</a:t>
            </a:r>
          </a:p>
          <a:p>
            <a:pPr algn="just"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4666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6A1F-9761-6B56-2BD4-DBF8EF5229DD}"/>
              </a:ext>
            </a:extLst>
          </p:cNvPr>
          <p:cNvSpPr>
            <a:spLocks noGrp="1"/>
          </p:cNvSpPr>
          <p:nvPr>
            <p:ph type="title"/>
          </p:nvPr>
        </p:nvSpPr>
        <p:spPr>
          <a:xfrm>
            <a:off x="838200" y="365126"/>
            <a:ext cx="10515600" cy="336232"/>
          </a:xfrm>
        </p:spPr>
        <p:txBody>
          <a:bodyPr>
            <a:noAutofit/>
          </a:bodyPr>
          <a:lstStyle/>
          <a:p>
            <a:pPr algn="ctr"/>
            <a:r>
              <a:rPr lang="en-US" sz="2000" b="1" dirty="0">
                <a:latin typeface="Times New Roman" panose="02020603050405020304" pitchFamily="18" charset="0"/>
                <a:cs typeface="Times New Roman" panose="02020603050405020304" pitchFamily="18" charset="0"/>
              </a:rPr>
              <a:t>SYSTEM REQUIREMENTS</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CE003B-28C2-67ED-A9FF-4ADA7A10AB32}"/>
              </a:ext>
            </a:extLst>
          </p:cNvPr>
          <p:cNvSpPr>
            <a:spLocks noGrp="1"/>
          </p:cNvSpPr>
          <p:nvPr>
            <p:ph idx="1"/>
          </p:nvPr>
        </p:nvSpPr>
        <p:spPr>
          <a:xfrm>
            <a:off x="746760" y="851747"/>
            <a:ext cx="10515600" cy="5313363"/>
          </a:xfrm>
        </p:spPr>
        <p:txBody>
          <a:bodyPr>
            <a:normAutofit/>
          </a:bodyPr>
          <a:lstStyle/>
          <a:p>
            <a:r>
              <a:rPr lang="en-US" sz="1400" b="1" dirty="0">
                <a:latin typeface="Times New Roman" panose="02020603050405020304" pitchFamily="18" charset="0"/>
                <a:cs typeface="Times New Roman" panose="02020603050405020304" pitchFamily="18" charset="0"/>
              </a:rPr>
              <a:t>SOFTWARE REQUIREMENTS:</a:t>
            </a: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HARDWARE REQUIREMENTS:</a:t>
            </a:r>
          </a:p>
          <a:p>
            <a:endParaRPr lang="en-IN" sz="1400" b="1" dirty="0">
              <a:latin typeface="Times New Roman" panose="02020603050405020304" pitchFamily="18" charset="0"/>
              <a:cs typeface="Times New Roman" panose="02020603050405020304" pitchFamily="18" charset="0"/>
            </a:endParaRPr>
          </a:p>
        </p:txBody>
      </p:sp>
      <p:graphicFrame>
        <p:nvGraphicFramePr>
          <p:cNvPr id="27" name="Table 26">
            <a:extLst>
              <a:ext uri="{FF2B5EF4-FFF2-40B4-BE49-F238E27FC236}">
                <a16:creationId xmlns:a16="http://schemas.microsoft.com/office/drawing/2014/main" id="{5BA013E2-9CEE-B2DA-3EDB-9DA9B23A889A}"/>
              </a:ext>
            </a:extLst>
          </p:cNvPr>
          <p:cNvGraphicFramePr>
            <a:graphicFrameLocks noGrp="1"/>
          </p:cNvGraphicFramePr>
          <p:nvPr>
            <p:extLst>
              <p:ext uri="{D42A27DB-BD31-4B8C-83A1-F6EECF244321}">
                <p14:modId xmlns:p14="http://schemas.microsoft.com/office/powerpoint/2010/main" val="2759521432"/>
              </p:ext>
            </p:extLst>
          </p:nvPr>
        </p:nvGraphicFramePr>
        <p:xfrm>
          <a:off x="609600" y="3556000"/>
          <a:ext cx="11081385" cy="2793253"/>
        </p:xfrm>
        <a:graphic>
          <a:graphicData uri="http://schemas.openxmlformats.org/drawingml/2006/table">
            <a:tbl>
              <a:tblPr/>
              <a:tblGrid>
                <a:gridCol w="3170427">
                  <a:extLst>
                    <a:ext uri="{9D8B030D-6E8A-4147-A177-3AD203B41FA5}">
                      <a16:colId xmlns:a16="http://schemas.microsoft.com/office/drawing/2014/main" val="1578642978"/>
                    </a:ext>
                  </a:extLst>
                </a:gridCol>
                <a:gridCol w="7910958">
                  <a:extLst>
                    <a:ext uri="{9D8B030D-6E8A-4147-A177-3AD203B41FA5}">
                      <a16:colId xmlns:a16="http://schemas.microsoft.com/office/drawing/2014/main" val="2955535100"/>
                    </a:ext>
                  </a:extLst>
                </a:gridCol>
              </a:tblGrid>
              <a:tr h="438467">
                <a:tc>
                  <a:txBody>
                    <a:bodyPr/>
                    <a:lstStyle/>
                    <a:p>
                      <a:pPr>
                        <a:buNone/>
                      </a:pP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447399773"/>
                  </a:ext>
                </a:extLst>
              </a:tr>
              <a:tr h="438467">
                <a:tc>
                  <a:txBody>
                    <a:bodyPr/>
                    <a:lstStyle/>
                    <a:p>
                      <a:pPr>
                        <a:buNone/>
                      </a:pPr>
                      <a:r>
                        <a:rPr lang="en-US" sz="1400" b="1" dirty="0">
                          <a:latin typeface="Times New Roman" panose="02020603050405020304" pitchFamily="18" charset="0"/>
                          <a:cs typeface="Times New Roman" panose="02020603050405020304" pitchFamily="18" charset="0"/>
                        </a:rPr>
                        <a:t>Processing Unit</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Computer system / Raspberry Pi 4 Model B</a:t>
                      </a:r>
                    </a:p>
                  </a:txBody>
                  <a:tcPr anchor="ctr">
                    <a:lnL>
                      <a:noFill/>
                    </a:lnL>
                    <a:lnR>
                      <a:noFill/>
                    </a:lnR>
                    <a:lnT>
                      <a:noFill/>
                    </a:lnT>
                    <a:lnB>
                      <a:noFill/>
                    </a:lnB>
                    <a:noFill/>
                  </a:tcPr>
                </a:tc>
                <a:extLst>
                  <a:ext uri="{0D108BD9-81ED-4DB2-BD59-A6C34878D82A}">
                    <a16:rowId xmlns:a16="http://schemas.microsoft.com/office/drawing/2014/main" val="3836598853"/>
                  </a:ext>
                </a:extLst>
              </a:tr>
              <a:tr h="438467">
                <a:tc>
                  <a:txBody>
                    <a:bodyPr/>
                    <a:lstStyle/>
                    <a:p>
                      <a:pPr>
                        <a:buNone/>
                      </a:pPr>
                      <a:r>
                        <a:rPr lang="en-US" sz="1400" b="1" dirty="0">
                          <a:latin typeface="Times New Roman" panose="02020603050405020304" pitchFamily="18" charset="0"/>
                          <a:cs typeface="Times New Roman" panose="02020603050405020304" pitchFamily="18" charset="0"/>
                        </a:rPr>
                        <a:t>A</a:t>
                      </a:r>
                      <a:r>
                        <a:rPr lang="en-IN" sz="1400" b="1" dirty="0">
                          <a:latin typeface="Times New Roman" panose="02020603050405020304" pitchFamily="18" charset="0"/>
                          <a:cs typeface="Times New Roman" panose="02020603050405020304" pitchFamily="18" charset="0"/>
                        </a:rPr>
                        <a:t>utomatic Gate Barrier /Servo Motor</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Electric gate barrier /motor power : 12V – 24V DC</a:t>
                      </a:r>
                    </a:p>
                  </a:txBody>
                  <a:tcPr anchor="ctr">
                    <a:lnL>
                      <a:noFill/>
                    </a:lnL>
                    <a:lnR>
                      <a:noFill/>
                    </a:lnR>
                    <a:lnT>
                      <a:noFill/>
                    </a:lnT>
                    <a:lnB>
                      <a:noFill/>
                    </a:lnB>
                    <a:noFill/>
                  </a:tcPr>
                </a:tc>
                <a:extLst>
                  <a:ext uri="{0D108BD9-81ED-4DB2-BD59-A6C34878D82A}">
                    <a16:rowId xmlns:a16="http://schemas.microsoft.com/office/drawing/2014/main" val="130834707"/>
                  </a:ext>
                </a:extLst>
              </a:tr>
              <a:tr h="600918">
                <a:tc>
                  <a:txBody>
                    <a:bodyPr/>
                    <a:lstStyle/>
                    <a:p>
                      <a:pPr>
                        <a:buNone/>
                      </a:pPr>
                      <a:r>
                        <a:rPr lang="en-US" sz="1400" b="1" dirty="0">
                          <a:latin typeface="Times New Roman" panose="02020603050405020304" pitchFamily="18" charset="0"/>
                          <a:cs typeface="Times New Roman" panose="02020603050405020304" pitchFamily="18" charset="0"/>
                        </a:rPr>
                        <a:t>Sensors</a:t>
                      </a:r>
                      <a:endParaRPr lang="en-IN" sz="1400"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Ultrasonic Sensor(HC-SR04)</a:t>
                      </a:r>
                    </a:p>
                  </a:txBody>
                  <a:tcPr anchor="ctr">
                    <a:lnL>
                      <a:noFill/>
                    </a:lnL>
                    <a:lnR>
                      <a:noFill/>
                    </a:lnR>
                    <a:lnT>
                      <a:noFill/>
                    </a:lnT>
                    <a:lnB>
                      <a:noFill/>
                    </a:lnB>
                    <a:noFill/>
                  </a:tcPr>
                </a:tc>
                <a:extLst>
                  <a:ext uri="{0D108BD9-81ED-4DB2-BD59-A6C34878D82A}">
                    <a16:rowId xmlns:a16="http://schemas.microsoft.com/office/drawing/2014/main" val="100035940"/>
                  </a:ext>
                </a:extLst>
              </a:tr>
              <a:tr h="438467">
                <a:tc>
                  <a:txBody>
                    <a:bodyPr/>
                    <a:lstStyle/>
                    <a:p>
                      <a:pPr>
                        <a:buNone/>
                      </a:pPr>
                      <a:r>
                        <a:rPr lang="en-IN" sz="1400" b="1" dirty="0">
                          <a:latin typeface="Times New Roman" panose="02020603050405020304" pitchFamily="18" charset="0"/>
                          <a:cs typeface="Times New Roman" panose="02020603050405020304" pitchFamily="18" charset="0"/>
                        </a:rPr>
                        <a:t>Storage</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Minimum 250 GB HDD / SSD (for datasets, models, and logs)</a:t>
                      </a:r>
                    </a:p>
                  </a:txBody>
                  <a:tcPr anchor="ctr">
                    <a:lnL>
                      <a:noFill/>
                    </a:lnL>
                    <a:lnR>
                      <a:noFill/>
                    </a:lnR>
                    <a:lnT>
                      <a:noFill/>
                    </a:lnT>
                    <a:lnB>
                      <a:noFill/>
                    </a:lnB>
                    <a:noFill/>
                  </a:tcPr>
                </a:tc>
                <a:extLst>
                  <a:ext uri="{0D108BD9-81ED-4DB2-BD59-A6C34878D82A}">
                    <a16:rowId xmlns:a16="http://schemas.microsoft.com/office/drawing/2014/main" val="4253052911"/>
                  </a:ext>
                </a:extLst>
              </a:tr>
              <a:tr h="438467">
                <a:tc>
                  <a:txBody>
                    <a:bodyPr/>
                    <a:lstStyle/>
                    <a:p>
                      <a:pPr>
                        <a:buNone/>
                      </a:pPr>
                      <a:r>
                        <a:rPr lang="en-IN" sz="1400" b="1" dirty="0">
                          <a:latin typeface="Times New Roman" panose="02020603050405020304" pitchFamily="18" charset="0"/>
                          <a:cs typeface="Times New Roman" panose="02020603050405020304" pitchFamily="18" charset="0"/>
                        </a:rPr>
                        <a:t>Camera</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IP Camera / USB Camera /Raspberry Pi Camera Module V3</a:t>
                      </a:r>
                    </a:p>
                  </a:txBody>
                  <a:tcPr anchor="ctr">
                    <a:lnL>
                      <a:noFill/>
                    </a:lnL>
                    <a:lnR>
                      <a:noFill/>
                    </a:lnR>
                    <a:lnT>
                      <a:noFill/>
                    </a:lnT>
                    <a:lnB>
                      <a:noFill/>
                    </a:lnB>
                    <a:noFill/>
                  </a:tcPr>
                </a:tc>
                <a:extLst>
                  <a:ext uri="{0D108BD9-81ED-4DB2-BD59-A6C34878D82A}">
                    <a16:rowId xmlns:a16="http://schemas.microsoft.com/office/drawing/2014/main" val="104972291"/>
                  </a:ext>
                </a:extLst>
              </a:tr>
            </a:tbl>
          </a:graphicData>
        </a:graphic>
      </p:graphicFrame>
      <p:graphicFrame>
        <p:nvGraphicFramePr>
          <p:cNvPr id="28" name="Table 27">
            <a:extLst>
              <a:ext uri="{FF2B5EF4-FFF2-40B4-BE49-F238E27FC236}">
                <a16:creationId xmlns:a16="http://schemas.microsoft.com/office/drawing/2014/main" id="{BC253F2B-1564-805F-1249-EBE672AB2093}"/>
              </a:ext>
            </a:extLst>
          </p:cNvPr>
          <p:cNvGraphicFramePr>
            <a:graphicFrameLocks noGrp="1"/>
          </p:cNvGraphicFramePr>
          <p:nvPr>
            <p:extLst>
              <p:ext uri="{D42A27DB-BD31-4B8C-83A1-F6EECF244321}">
                <p14:modId xmlns:p14="http://schemas.microsoft.com/office/powerpoint/2010/main" val="3604389996"/>
              </p:ext>
            </p:extLst>
          </p:nvPr>
        </p:nvGraphicFramePr>
        <p:xfrm>
          <a:off x="609600" y="701358"/>
          <a:ext cx="11673840" cy="3019661"/>
        </p:xfrm>
        <a:graphic>
          <a:graphicData uri="http://schemas.openxmlformats.org/drawingml/2006/table">
            <a:tbl>
              <a:tblPr/>
              <a:tblGrid>
                <a:gridCol w="3174802">
                  <a:extLst>
                    <a:ext uri="{9D8B030D-6E8A-4147-A177-3AD203B41FA5}">
                      <a16:colId xmlns:a16="http://schemas.microsoft.com/office/drawing/2014/main" val="116019431"/>
                    </a:ext>
                  </a:extLst>
                </a:gridCol>
                <a:gridCol w="8499038">
                  <a:extLst>
                    <a:ext uri="{9D8B030D-6E8A-4147-A177-3AD203B41FA5}">
                      <a16:colId xmlns:a16="http://schemas.microsoft.com/office/drawing/2014/main" val="1550892579"/>
                    </a:ext>
                  </a:extLst>
                </a:gridCol>
              </a:tblGrid>
              <a:tr h="350794">
                <a:tc>
                  <a:txBody>
                    <a:bodyPr/>
                    <a:lstStyle/>
                    <a:p>
                      <a:pPr>
                        <a:buNone/>
                      </a:pP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402840635"/>
                  </a:ext>
                </a:extLst>
              </a:tr>
              <a:tr h="504643">
                <a:tc>
                  <a:txBody>
                    <a:bodyPr/>
                    <a:lstStyle/>
                    <a:p>
                      <a:pPr>
                        <a:buNone/>
                      </a:pPr>
                      <a:r>
                        <a:rPr lang="en-IN" sz="1400" b="1" dirty="0">
                          <a:latin typeface="Times New Roman" panose="02020603050405020304" pitchFamily="18" charset="0"/>
                          <a:cs typeface="Times New Roman" panose="02020603050405020304" pitchFamily="18" charset="0"/>
                        </a:rPr>
                        <a:t>Operating System</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Windows 10 or above</a:t>
                      </a:r>
                    </a:p>
                  </a:txBody>
                  <a:tcPr anchor="ctr">
                    <a:lnL>
                      <a:noFill/>
                    </a:lnL>
                    <a:lnR>
                      <a:noFill/>
                    </a:lnR>
                    <a:lnT>
                      <a:noFill/>
                    </a:lnT>
                    <a:lnB>
                      <a:noFill/>
                    </a:lnB>
                    <a:noFill/>
                  </a:tcPr>
                </a:tc>
                <a:extLst>
                  <a:ext uri="{0D108BD9-81ED-4DB2-BD59-A6C34878D82A}">
                    <a16:rowId xmlns:a16="http://schemas.microsoft.com/office/drawing/2014/main" val="182872264"/>
                  </a:ext>
                </a:extLst>
              </a:tr>
              <a:tr h="504643">
                <a:tc>
                  <a:txBody>
                    <a:bodyPr/>
                    <a:lstStyle/>
                    <a:p>
                      <a:pPr>
                        <a:buNone/>
                      </a:pPr>
                      <a:r>
                        <a:rPr lang="en-IN" sz="1400" b="1" dirty="0">
                          <a:latin typeface="Times New Roman" panose="02020603050405020304" pitchFamily="18" charset="0"/>
                          <a:cs typeface="Times New Roman" panose="02020603050405020304" pitchFamily="18" charset="0"/>
                        </a:rPr>
                        <a:t>Programming Language</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Python 3.8 minimum</a:t>
                      </a:r>
                    </a:p>
                  </a:txBody>
                  <a:tcPr anchor="ctr">
                    <a:lnL>
                      <a:noFill/>
                    </a:lnL>
                    <a:lnR>
                      <a:noFill/>
                    </a:lnR>
                    <a:lnT>
                      <a:noFill/>
                    </a:lnT>
                    <a:lnB>
                      <a:noFill/>
                    </a:lnB>
                    <a:noFill/>
                  </a:tcPr>
                </a:tc>
                <a:extLst>
                  <a:ext uri="{0D108BD9-81ED-4DB2-BD59-A6C34878D82A}">
                    <a16:rowId xmlns:a16="http://schemas.microsoft.com/office/drawing/2014/main" val="2439125814"/>
                  </a:ext>
                </a:extLst>
              </a:tr>
              <a:tr h="350794">
                <a:tc>
                  <a:txBody>
                    <a:bodyPr/>
                    <a:lstStyle/>
                    <a:p>
                      <a:pPr>
                        <a:buNone/>
                      </a:pPr>
                      <a:r>
                        <a:rPr lang="en-IN" sz="1400" b="1">
                          <a:latin typeface="Times New Roman" panose="02020603050405020304" pitchFamily="18" charset="0"/>
                          <a:cs typeface="Times New Roman" panose="02020603050405020304" pitchFamily="18" charset="0"/>
                        </a:rPr>
                        <a:t>Frontend Technologies</a:t>
                      </a:r>
                      <a:endParaRPr lang="en-IN" sz="1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HTML, CSS, JavaScript (for user interface)</a:t>
                      </a:r>
                    </a:p>
                  </a:txBody>
                  <a:tcPr anchor="ctr">
                    <a:lnL>
                      <a:noFill/>
                    </a:lnL>
                    <a:lnR>
                      <a:noFill/>
                    </a:lnR>
                    <a:lnT>
                      <a:noFill/>
                    </a:lnT>
                    <a:lnB>
                      <a:noFill/>
                    </a:lnB>
                    <a:noFill/>
                  </a:tcPr>
                </a:tc>
                <a:extLst>
                  <a:ext uri="{0D108BD9-81ED-4DB2-BD59-A6C34878D82A}">
                    <a16:rowId xmlns:a16="http://schemas.microsoft.com/office/drawing/2014/main" val="1743555940"/>
                  </a:ext>
                </a:extLst>
              </a:tr>
              <a:tr h="712437">
                <a:tc>
                  <a:txBody>
                    <a:bodyPr/>
                    <a:lstStyle/>
                    <a:p>
                      <a:pPr>
                        <a:buNone/>
                      </a:pPr>
                      <a:r>
                        <a:rPr lang="en-IN" sz="1400" b="1" dirty="0">
                          <a:latin typeface="Times New Roman" panose="02020603050405020304" pitchFamily="18" charset="0"/>
                          <a:cs typeface="Times New Roman" panose="02020603050405020304" pitchFamily="18" charset="0"/>
                        </a:rPr>
                        <a:t>Frameworks / Libraries</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OpenCV (image processing), TensorFlow / </a:t>
                      </a:r>
                      <a:r>
                        <a:rPr lang="en-IN" sz="1400" dirty="0" err="1">
                          <a:latin typeface="Times New Roman" panose="02020603050405020304" pitchFamily="18" charset="0"/>
                          <a:cs typeface="Times New Roman" panose="02020603050405020304" pitchFamily="18" charset="0"/>
                        </a:rPr>
                        <a:t>PyTorch</a:t>
                      </a:r>
                      <a:r>
                        <a:rPr lang="en-IN" sz="1400" dirty="0">
                          <a:latin typeface="Times New Roman" panose="02020603050405020304" pitchFamily="18" charset="0"/>
                          <a:cs typeface="Times New Roman" panose="02020603050405020304" pitchFamily="18" charset="0"/>
                        </a:rPr>
                        <a:t> (ML model training), Tesseract OCR (character recognition), Flask/Django</a:t>
                      </a:r>
                    </a:p>
                  </a:txBody>
                  <a:tcPr anchor="ctr">
                    <a:lnL>
                      <a:noFill/>
                    </a:lnL>
                    <a:lnR>
                      <a:noFill/>
                    </a:lnR>
                    <a:lnT>
                      <a:noFill/>
                    </a:lnT>
                    <a:lnB>
                      <a:noFill/>
                    </a:lnB>
                    <a:noFill/>
                  </a:tcPr>
                </a:tc>
                <a:extLst>
                  <a:ext uri="{0D108BD9-81ED-4DB2-BD59-A6C34878D82A}">
                    <a16:rowId xmlns:a16="http://schemas.microsoft.com/office/drawing/2014/main" val="39071988"/>
                  </a:ext>
                </a:extLst>
              </a:tr>
              <a:tr h="596350">
                <a:tc>
                  <a:txBody>
                    <a:bodyPr/>
                    <a:lstStyle/>
                    <a:p>
                      <a:pPr>
                        <a:buNone/>
                      </a:pPr>
                      <a:r>
                        <a:rPr lang="en-IN" sz="1400" b="1" dirty="0">
                          <a:latin typeface="Times New Roman" panose="02020603050405020304" pitchFamily="18" charset="0"/>
                          <a:cs typeface="Times New Roman" panose="02020603050405020304" pitchFamily="18" charset="0"/>
                        </a:rPr>
                        <a:t>Database</a:t>
                      </a:r>
                      <a:endParaRPr lang="en-IN"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MySQL / SQLite (for storing vehicle number, time, and image records)</a:t>
                      </a:r>
                    </a:p>
                    <a:p>
                      <a:pPr>
                        <a:buNone/>
                      </a:pPr>
                      <a:endParaRPr lang="en-US" sz="1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466883745"/>
                  </a:ext>
                </a:extLst>
              </a:tr>
            </a:tbl>
          </a:graphicData>
        </a:graphic>
      </p:graphicFrame>
    </p:spTree>
    <p:extLst>
      <p:ext uri="{BB962C8B-B14F-4D97-AF65-F5344CB8AC3E}">
        <p14:creationId xmlns:p14="http://schemas.microsoft.com/office/powerpoint/2010/main" val="3985921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11BB9-5A8F-900C-021E-B5A9B607B97B}"/>
              </a:ext>
            </a:extLst>
          </p:cNvPr>
          <p:cNvSpPr>
            <a:spLocks noGrp="1"/>
          </p:cNvSpPr>
          <p:nvPr>
            <p:ph type="title"/>
          </p:nvPr>
        </p:nvSpPr>
        <p:spPr>
          <a:xfrm>
            <a:off x="838200" y="365125"/>
            <a:ext cx="10515600" cy="610235"/>
          </a:xfrm>
        </p:spPr>
        <p:txBody>
          <a:bodyPr>
            <a:normAutofit/>
          </a:bodyPr>
          <a:lstStyle/>
          <a:p>
            <a:pPr algn="ctr"/>
            <a:r>
              <a:rPr lang="en-US" sz="2400" b="1" dirty="0">
                <a:latin typeface="Times New Roman" panose="02020603050405020304" pitchFamily="18" charset="0"/>
                <a:cs typeface="Times New Roman" panose="02020603050405020304" pitchFamily="18" charset="0"/>
              </a:rPr>
              <a:t>SYSTEM ARCHITECTURE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23E115-17E0-1A8C-0EF4-9CDBA590CB9F}"/>
              </a:ext>
            </a:extLst>
          </p:cNvPr>
          <p:cNvSpPr>
            <a:spLocks noGrp="1"/>
          </p:cNvSpPr>
          <p:nvPr>
            <p:ph idx="1"/>
          </p:nvPr>
        </p:nvSpPr>
        <p:spPr>
          <a:xfrm>
            <a:off x="838200" y="975360"/>
            <a:ext cx="10515600" cy="5201603"/>
          </a:xfrm>
        </p:spPr>
        <p:txBody>
          <a:bodyPr>
            <a:normAutofit/>
          </a:bodyPr>
          <a:lstStyle/>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5D9E894-622F-0734-3EAC-0853D48B73B8}"/>
              </a:ext>
            </a:extLst>
          </p:cNvPr>
          <p:cNvPicPr>
            <a:picLocks noChangeAspect="1"/>
          </p:cNvPicPr>
          <p:nvPr/>
        </p:nvPicPr>
        <p:blipFill>
          <a:blip r:embed="rId2"/>
          <a:stretch>
            <a:fillRect/>
          </a:stretch>
        </p:blipFill>
        <p:spPr>
          <a:xfrm>
            <a:off x="1329267" y="1210733"/>
            <a:ext cx="9592733" cy="4978374"/>
          </a:xfrm>
          <a:prstGeom prst="rect">
            <a:avLst/>
          </a:prstGeom>
        </p:spPr>
      </p:pic>
    </p:spTree>
    <p:extLst>
      <p:ext uri="{BB962C8B-B14F-4D97-AF65-F5344CB8AC3E}">
        <p14:creationId xmlns:p14="http://schemas.microsoft.com/office/powerpoint/2010/main" val="257628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6991CC-8274-56B6-B69C-C393B7A9537F}"/>
              </a:ext>
            </a:extLst>
          </p:cNvPr>
          <p:cNvSpPr>
            <a:spLocks noGrp="1"/>
          </p:cNvSpPr>
          <p:nvPr>
            <p:ph type="title"/>
          </p:nvPr>
        </p:nvSpPr>
        <p:spPr>
          <a:xfrm>
            <a:off x="210208" y="254593"/>
            <a:ext cx="11173738" cy="457835"/>
          </a:xfrm>
        </p:spPr>
        <p:txBody>
          <a:bodyPr>
            <a:normAutofit/>
          </a:bodyPr>
          <a:lstStyle/>
          <a:p>
            <a:r>
              <a:rPr lang="en-IN" sz="1400" b="1" dirty="0">
                <a:latin typeface="Times New Roman" panose="02020603050405020304" pitchFamily="18" charset="0"/>
                <a:cs typeface="Times New Roman" panose="02020603050405020304" pitchFamily="18" charset="0"/>
              </a:rPr>
              <a:t>USE CASE DAIGRAM:</a:t>
            </a:r>
          </a:p>
        </p:txBody>
      </p:sp>
      <p:pic>
        <p:nvPicPr>
          <p:cNvPr id="3" name="Picture 2">
            <a:extLst>
              <a:ext uri="{FF2B5EF4-FFF2-40B4-BE49-F238E27FC236}">
                <a16:creationId xmlns:a16="http://schemas.microsoft.com/office/drawing/2014/main" id="{7878EF6C-D810-1BF2-CEA3-3571895DE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728" y="1083733"/>
            <a:ext cx="6772275" cy="4995334"/>
          </a:xfrm>
          <a:prstGeom prst="rect">
            <a:avLst/>
          </a:prstGeom>
        </p:spPr>
      </p:pic>
    </p:spTree>
    <p:extLst>
      <p:ext uri="{BB962C8B-B14F-4D97-AF65-F5344CB8AC3E}">
        <p14:creationId xmlns:p14="http://schemas.microsoft.com/office/powerpoint/2010/main" val="3211019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D6D81-2013-DD0B-F5D0-C20E7D610D33}"/>
              </a:ext>
            </a:extLst>
          </p:cNvPr>
          <p:cNvSpPr>
            <a:spLocks noGrp="1"/>
          </p:cNvSpPr>
          <p:nvPr>
            <p:ph type="title"/>
          </p:nvPr>
        </p:nvSpPr>
        <p:spPr>
          <a:xfrm>
            <a:off x="389467" y="245533"/>
            <a:ext cx="10964333" cy="506307"/>
          </a:xfrm>
        </p:spPr>
        <p:txBody>
          <a:bodyPr>
            <a:normAutofit/>
          </a:bodyPr>
          <a:lstStyle/>
          <a:p>
            <a:r>
              <a:rPr lang="en-US" sz="1400" b="1" dirty="0">
                <a:latin typeface="Times New Roman" panose="02020603050405020304" pitchFamily="18" charset="0"/>
                <a:cs typeface="Times New Roman" panose="02020603050405020304" pitchFamily="18" charset="0"/>
              </a:rPr>
              <a:t>CLASS DIAGRAM:</a:t>
            </a:r>
            <a:endParaRPr lang="en-IN" sz="1400" b="1" dirty="0">
              <a:latin typeface="Times New Roman" panose="02020603050405020304" pitchFamily="18" charset="0"/>
              <a:cs typeface="Times New Roman" panose="02020603050405020304" pitchFamily="18" charset="0"/>
            </a:endParaRPr>
          </a:p>
        </p:txBody>
      </p:sp>
      <p:pic>
        <p:nvPicPr>
          <p:cNvPr id="6" name="Picture 5" descr="A diagram of parking system&#10;&#10;AI-generated content may be incorrect.">
            <a:extLst>
              <a:ext uri="{FF2B5EF4-FFF2-40B4-BE49-F238E27FC236}">
                <a16:creationId xmlns:a16="http://schemas.microsoft.com/office/drawing/2014/main" id="{40DD85ED-C232-D238-F834-7C1C7D56C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199" y="912231"/>
            <a:ext cx="7984067" cy="4726569"/>
          </a:xfrm>
          <a:prstGeom prst="rect">
            <a:avLst/>
          </a:prstGeom>
        </p:spPr>
      </p:pic>
    </p:spTree>
    <p:extLst>
      <p:ext uri="{BB962C8B-B14F-4D97-AF65-F5344CB8AC3E}">
        <p14:creationId xmlns:p14="http://schemas.microsoft.com/office/powerpoint/2010/main" val="96481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789FD-5824-4B99-2020-4D4034C9AB56}"/>
              </a:ext>
            </a:extLst>
          </p:cNvPr>
          <p:cNvSpPr>
            <a:spLocks noGrp="1"/>
          </p:cNvSpPr>
          <p:nvPr>
            <p:ph type="title"/>
          </p:nvPr>
        </p:nvSpPr>
        <p:spPr>
          <a:xfrm>
            <a:off x="506605" y="286462"/>
            <a:ext cx="10515600" cy="305435"/>
          </a:xfrm>
        </p:spPr>
        <p:txBody>
          <a:bodyPr>
            <a:normAutofit/>
          </a:bodyPr>
          <a:lstStyle/>
          <a:p>
            <a:r>
              <a:rPr lang="en-IN" sz="1400" b="1" dirty="0">
                <a:latin typeface="Times New Roman" panose="02020603050405020304" pitchFamily="18" charset="0"/>
                <a:cs typeface="Times New Roman" panose="02020603050405020304" pitchFamily="18" charset="0"/>
              </a:rPr>
              <a:t>SEQUENCE DIAGRAM:</a:t>
            </a:r>
          </a:p>
        </p:txBody>
      </p:sp>
      <p:sp>
        <p:nvSpPr>
          <p:cNvPr id="4" name="TextBox 3">
            <a:extLst>
              <a:ext uri="{FF2B5EF4-FFF2-40B4-BE49-F238E27FC236}">
                <a16:creationId xmlns:a16="http://schemas.microsoft.com/office/drawing/2014/main" id="{053E847F-B2B0-A801-95D4-7647860076B4}"/>
              </a:ext>
            </a:extLst>
          </p:cNvPr>
          <p:cNvSpPr txBox="1"/>
          <p:nvPr/>
        </p:nvSpPr>
        <p:spPr>
          <a:xfrm>
            <a:off x="3048000" y="3106284"/>
            <a:ext cx="6096000" cy="286360"/>
          </a:xfrm>
          <a:prstGeom prst="rect">
            <a:avLst/>
          </a:prstGeom>
          <a:noFill/>
        </p:spPr>
        <p:txBody>
          <a:bodyPr wrap="square">
            <a:spAutoFit/>
          </a:bodyPr>
          <a:lstStyle/>
          <a:p>
            <a:pPr>
              <a:lnSpc>
                <a:spcPts val="1425"/>
              </a:lnSpc>
              <a:buNone/>
            </a:pPr>
            <a:r>
              <a:rPr lang="en-IN" b="0" dirty="0">
                <a:solidFill>
                  <a:srgbClr val="CCCCCC"/>
                </a:solidFill>
                <a:effectLst/>
                <a:latin typeface="Consolas" panose="020B0609020204030204" pitchFamily="49" charset="0"/>
              </a:rPr>
              <a:t>'</a:t>
            </a:r>
          </a:p>
        </p:txBody>
      </p:sp>
      <p:pic>
        <p:nvPicPr>
          <p:cNvPr id="5" name="Picture 4">
            <a:extLst>
              <a:ext uri="{FF2B5EF4-FFF2-40B4-BE49-F238E27FC236}">
                <a16:creationId xmlns:a16="http://schemas.microsoft.com/office/drawing/2014/main" id="{7F82881E-FA12-56BC-D25F-0EA5DAB86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33" y="1210733"/>
            <a:ext cx="10151534" cy="4241799"/>
          </a:xfrm>
          <a:prstGeom prst="rect">
            <a:avLst/>
          </a:prstGeom>
        </p:spPr>
      </p:pic>
    </p:spTree>
    <p:extLst>
      <p:ext uri="{BB962C8B-B14F-4D97-AF65-F5344CB8AC3E}">
        <p14:creationId xmlns:p14="http://schemas.microsoft.com/office/powerpoint/2010/main" val="17480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FED457-31A0-1F04-1759-C35DD857BF13}"/>
              </a:ext>
            </a:extLst>
          </p:cNvPr>
          <p:cNvSpPr txBox="1"/>
          <p:nvPr/>
        </p:nvSpPr>
        <p:spPr>
          <a:xfrm>
            <a:off x="293913" y="223428"/>
            <a:ext cx="6096837" cy="311496"/>
          </a:xfrm>
          <a:prstGeom prst="rect">
            <a:avLst/>
          </a:prstGeom>
          <a:noFill/>
        </p:spPr>
        <p:txBody>
          <a:bodyPr wrap="square">
            <a:spAutoFit/>
          </a:bodyPr>
          <a:lstStyle/>
          <a:p>
            <a:pPr>
              <a:lnSpc>
                <a:spcPct val="107000"/>
              </a:lnSpc>
              <a:spcAft>
                <a:spcPts val="800"/>
              </a:spcAft>
              <a:buNone/>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ACTIVITY DIAGRAM:</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2">
            <a:extLst>
              <a:ext uri="{FF2B5EF4-FFF2-40B4-BE49-F238E27FC236}">
                <a16:creationId xmlns:a16="http://schemas.microsoft.com/office/drawing/2014/main" id="{8AA7D858-FA5F-7787-5181-395A8BA3C952}"/>
              </a:ext>
            </a:extLst>
          </p:cNvPr>
          <p:cNvSpPr>
            <a:spLocks noChangeArrowheads="1"/>
          </p:cNvSpPr>
          <p:nvPr/>
        </p:nvSpPr>
        <p:spPr bwMode="auto">
          <a:xfrm>
            <a:off x="3059914" y="-5172"/>
            <a:ext cx="1297055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A19FC80F-FD1F-B3CD-ECFF-44484E2B971A}"/>
              </a:ext>
            </a:extLst>
          </p:cNvPr>
          <p:cNvSpPr>
            <a:spLocks noChangeArrowheads="1"/>
          </p:cNvSpPr>
          <p:nvPr/>
        </p:nvSpPr>
        <p:spPr bwMode="auto">
          <a:xfrm>
            <a:off x="3059914" y="6570253"/>
            <a:ext cx="1297055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 name="Picture 1">
            <a:extLst>
              <a:ext uri="{FF2B5EF4-FFF2-40B4-BE49-F238E27FC236}">
                <a16:creationId xmlns:a16="http://schemas.microsoft.com/office/drawing/2014/main" id="{AF7D6C63-F022-6186-BE8E-08BD5296FD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09851" y="680628"/>
            <a:ext cx="4937759" cy="5310868"/>
          </a:xfrm>
          <a:prstGeom prst="rect">
            <a:avLst/>
          </a:prstGeom>
          <a:noFill/>
          <a:ln>
            <a:noFill/>
          </a:ln>
        </p:spPr>
      </p:pic>
    </p:spTree>
    <p:extLst>
      <p:ext uri="{BB962C8B-B14F-4D97-AF65-F5344CB8AC3E}">
        <p14:creationId xmlns:p14="http://schemas.microsoft.com/office/powerpoint/2010/main" val="188783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D4B076C-AE8C-865F-6B80-44A559CC0267}"/>
              </a:ext>
            </a:extLst>
          </p:cNvPr>
          <p:cNvSpPr txBox="1"/>
          <p:nvPr/>
        </p:nvSpPr>
        <p:spPr>
          <a:xfrm>
            <a:off x="59267" y="160867"/>
            <a:ext cx="9084733" cy="369332"/>
          </a:xfrm>
          <a:prstGeom prst="rect">
            <a:avLst/>
          </a:prstGeom>
          <a:noFill/>
        </p:spPr>
        <p:txBody>
          <a:bodyPr wrap="square">
            <a:spAutoFit/>
          </a:bodyPr>
          <a:lstStyle/>
          <a:p>
            <a:r>
              <a:rPr lang="en-IN" sz="1400" b="1" kern="100" dirty="0">
                <a:latin typeface="Times New Roman" panose="02020603050405020304" pitchFamily="18" charset="0"/>
                <a:ea typeface="Calibri" panose="020F0502020204030204" pitchFamily="34" charset="0"/>
                <a:cs typeface="Times New Roman" panose="02020603050405020304" pitchFamily="18" charset="0"/>
              </a:rPr>
              <a:t>DATAFLOW</a:t>
            </a: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 DIAGRAM</a:t>
            </a:r>
            <a:r>
              <a:rPr lang="en-IN" b="1" kern="100" dirty="0">
                <a:latin typeface="Times New Roman" panose="02020603050405020304" pitchFamily="18" charset="0"/>
                <a:ea typeface="Calibri" panose="020F0502020204030204" pitchFamily="34" charset="0"/>
                <a:cs typeface="Times New Roman" panose="02020603050405020304" pitchFamily="18" charset="0"/>
              </a:rPr>
              <a:t>:</a:t>
            </a:r>
            <a:endParaRPr lang="en-IN" dirty="0"/>
          </a:p>
        </p:txBody>
      </p:sp>
      <p:pic>
        <p:nvPicPr>
          <p:cNvPr id="3" name="Picture 2">
            <a:extLst>
              <a:ext uri="{FF2B5EF4-FFF2-40B4-BE49-F238E27FC236}">
                <a16:creationId xmlns:a16="http://schemas.microsoft.com/office/drawing/2014/main" id="{005A0936-F74D-1BDF-467C-C6E342A70E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37" y="1804987"/>
            <a:ext cx="9915525" cy="3248025"/>
          </a:xfrm>
          <a:prstGeom prst="rect">
            <a:avLst/>
          </a:prstGeom>
        </p:spPr>
      </p:pic>
      <p:pic>
        <p:nvPicPr>
          <p:cNvPr id="4" name="Picture 3">
            <a:extLst>
              <a:ext uri="{FF2B5EF4-FFF2-40B4-BE49-F238E27FC236}">
                <a16:creationId xmlns:a16="http://schemas.microsoft.com/office/drawing/2014/main" id="{F31A2910-A503-E0A7-92AD-EA3C55B6C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511" y="2612999"/>
            <a:ext cx="1708868" cy="1185333"/>
          </a:xfrm>
          <a:prstGeom prst="rect">
            <a:avLst/>
          </a:prstGeom>
        </p:spPr>
      </p:pic>
    </p:spTree>
    <p:extLst>
      <p:ext uri="{BB962C8B-B14F-4D97-AF65-F5344CB8AC3E}">
        <p14:creationId xmlns:p14="http://schemas.microsoft.com/office/powerpoint/2010/main" val="1407621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172A-2098-29EE-936A-8EEF8B580264}"/>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OUTPUT SCREEN-1</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92020C-421E-85A1-1BA3-44EA93259D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869" y="1590260"/>
            <a:ext cx="9696576" cy="4721087"/>
          </a:xfrm>
          <a:prstGeom prst="rect">
            <a:avLst/>
          </a:prstGeom>
        </p:spPr>
      </p:pic>
    </p:spTree>
    <p:extLst>
      <p:ext uri="{BB962C8B-B14F-4D97-AF65-F5344CB8AC3E}">
        <p14:creationId xmlns:p14="http://schemas.microsoft.com/office/powerpoint/2010/main" val="302873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E570-E853-D4A2-4F7F-437879CEE22F}"/>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OUTPUT SCREEN-2</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8DCE753-FC8B-C5C4-3E63-1C531B5DD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6563" y="1292086"/>
            <a:ext cx="9758873" cy="5200789"/>
          </a:xfrm>
          <a:prstGeom prst="rect">
            <a:avLst/>
          </a:prstGeom>
        </p:spPr>
      </p:pic>
    </p:spTree>
    <p:extLst>
      <p:ext uri="{BB962C8B-B14F-4D97-AF65-F5344CB8AC3E}">
        <p14:creationId xmlns:p14="http://schemas.microsoft.com/office/powerpoint/2010/main" val="3980782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74C4-599A-0C30-AE41-B4934422C0F7}"/>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OUTPUT SCREEN-3</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FC2A46-F9BB-99A4-0C81-535E2C91D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2724" y="1451113"/>
            <a:ext cx="9841076" cy="5041762"/>
          </a:xfrm>
          <a:prstGeom prst="rect">
            <a:avLst/>
          </a:prstGeom>
        </p:spPr>
      </p:pic>
    </p:spTree>
    <p:extLst>
      <p:ext uri="{BB962C8B-B14F-4D97-AF65-F5344CB8AC3E}">
        <p14:creationId xmlns:p14="http://schemas.microsoft.com/office/powerpoint/2010/main" val="4177910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15E44-715E-D20F-86C9-6FB5559CA43E}"/>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OUTPUT SCREEN-4</a:t>
            </a:r>
            <a:endParaRPr lang="en-IN" sz="1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3AD1F6-B58E-B02B-C39B-B95979A40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2890" y="1520686"/>
            <a:ext cx="9786220" cy="4820479"/>
          </a:xfrm>
          <a:prstGeom prst="rect">
            <a:avLst/>
          </a:prstGeom>
        </p:spPr>
      </p:pic>
    </p:spTree>
    <p:extLst>
      <p:ext uri="{BB962C8B-B14F-4D97-AF65-F5344CB8AC3E}">
        <p14:creationId xmlns:p14="http://schemas.microsoft.com/office/powerpoint/2010/main" val="390882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59E0-4CC7-0463-E76C-BD89EC1CA096}"/>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D5595E-1C75-F6EF-62ED-DF7211CEC603}"/>
              </a:ext>
            </a:extLst>
          </p:cNvPr>
          <p:cNvSpPr>
            <a:spLocks noGrp="1"/>
          </p:cNvSpPr>
          <p:nvPr>
            <p:ph idx="1"/>
          </p:nvPr>
        </p:nvSpPr>
        <p:spPr>
          <a:xfrm>
            <a:off x="838200" y="1380067"/>
            <a:ext cx="10515600" cy="4796896"/>
          </a:xfrm>
        </p:spPr>
        <p:txBody>
          <a:bodyPr>
            <a:normAutofit/>
          </a:bodyPr>
          <a:lstStyle/>
          <a:p>
            <a:pPr marL="0" indent="0" algn="just">
              <a:lnSpc>
                <a:spcPct val="150000"/>
              </a:lnSpc>
              <a:buNone/>
            </a:pPr>
            <a:r>
              <a:rPr lang="en-IN" sz="1600" dirty="0">
                <a:latin typeface="Times New Roman" panose="02020603050405020304" pitchFamily="18" charset="0"/>
                <a:cs typeface="Times New Roman" panose="02020603050405020304" pitchFamily="18" charset="0"/>
              </a:rPr>
              <a:t>The Major Project detailing the Smart Car Parking and Number Plate Recognition system successfully established a technologically robust, AI-driven solution to automate access control and management. By addressing the significant limitations of traditional sensor-based and manual parking systems, the project validates the necessity of leveraging deep learning for high-reliability infrastructure applications.</a:t>
            </a:r>
            <a:r>
              <a:rPr lang="en-IN" sz="1600" dirty="0"/>
              <a:t> </a:t>
            </a:r>
            <a:r>
              <a:rPr lang="en-IN" sz="1600" dirty="0">
                <a:latin typeface="Times New Roman" panose="02020603050405020304" pitchFamily="18" charset="0"/>
                <a:cs typeface="Times New Roman" panose="02020603050405020304" pitchFamily="18" charset="0"/>
              </a:rPr>
              <a:t>Ultimately, this project contributes a high-reliability, transparent, and scalable solution to urban logistics, providing a platform that can be extended with advanced predictive and analytical capabilities to further optimize space utilization and traffic flow. The core success is attributed to the distributed, modular architecture and the stringent application of Computer Vision techniques.</a:t>
            </a:r>
            <a:endParaRPr lang="en-IN" sz="1600" dirty="0"/>
          </a:p>
          <a:p>
            <a:endParaRPr lang="en-IN" dirty="0"/>
          </a:p>
        </p:txBody>
      </p:sp>
    </p:spTree>
    <p:extLst>
      <p:ext uri="{BB962C8B-B14F-4D97-AF65-F5344CB8AC3E}">
        <p14:creationId xmlns:p14="http://schemas.microsoft.com/office/powerpoint/2010/main" val="2742408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EA2E-CE2E-6558-20F2-9425A58BC3CF}"/>
              </a:ext>
            </a:extLst>
          </p:cNvPr>
          <p:cNvSpPr>
            <a:spLocks noGrp="1"/>
          </p:cNvSpPr>
          <p:nvPr>
            <p:ph type="title"/>
          </p:nvPr>
        </p:nvSpPr>
        <p:spPr/>
        <p:txBody>
          <a:bodyPr>
            <a:normAutofit/>
          </a:bodyPr>
          <a:lstStyle/>
          <a:p>
            <a:pPr algn="ctr"/>
            <a:r>
              <a:rPr lang="en-US" sz="1800" b="1" dirty="0">
                <a:latin typeface="Times New Roman" panose="02020603050405020304" pitchFamily="18" charset="0"/>
                <a:cs typeface="Times New Roman" panose="02020603050405020304" pitchFamily="18" charset="0"/>
              </a:rPr>
              <a:t>FUTURE ENHANCEMENT</a:t>
            </a:r>
            <a:endParaRPr lang="en-IN" sz="1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F59172-818D-2E8F-D2EC-3C95785272DB}"/>
              </a:ext>
            </a:extLst>
          </p:cNvPr>
          <p:cNvSpPr>
            <a:spLocks noGrp="1"/>
          </p:cNvSpPr>
          <p:nvPr>
            <p:ph idx="1"/>
          </p:nvPr>
        </p:nvSpPr>
        <p:spPr>
          <a:xfrm>
            <a:off x="838200" y="1292087"/>
            <a:ext cx="10515600" cy="4884876"/>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The smart car parking and number plate recognition system using AI and computer vision can make the solution more intelligent, secure, and scalable. The system can be improved by integrating real-time parking availability prediction and mobile applications for slot reservation and cashless payments. Advanced deep learning models can be used to increase number plate detection accuracy under low light, bad weather, and high-speed conditions. Cloud-based storage and analytics can enable large-scale deployment and provide useful insights into parking usage and traffic patterns. Integration with IoT sensors and government vehicle databases can further enhance slot detection accuracy and automatic vehicle verification. These improvements will support smart city development by reducing traffic congestion, improving user convenience, and ensuring efficient parking management.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33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44F87-6667-3BB4-C787-38E58D5CEB1C}"/>
              </a:ext>
            </a:extLst>
          </p:cNvPr>
          <p:cNvSpPr>
            <a:spLocks noGrp="1"/>
          </p:cNvSpPr>
          <p:nvPr>
            <p:ph type="title"/>
          </p:nvPr>
        </p:nvSpPr>
        <p:spPr>
          <a:xfrm>
            <a:off x="1320800" y="2103437"/>
            <a:ext cx="10515600" cy="1325563"/>
          </a:xfrm>
        </p:spPr>
        <p:txBody>
          <a:bodyPr>
            <a:normAutofit/>
          </a:bodyPr>
          <a:lstStyle/>
          <a:p>
            <a:pPr algn="just"/>
            <a:r>
              <a:rPr lang="en-US" sz="7200" dirty="0">
                <a:latin typeface="Times New Roman" panose="02020603050405020304" pitchFamily="18" charset="0"/>
                <a:cs typeface="Times New Roman" panose="02020603050405020304" pitchFamily="18" charset="0"/>
              </a:rPr>
              <a:t>        THANK YOU</a:t>
            </a:r>
            <a:endParaRPr lang="en-IN"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8206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y Questions PowerPoint template background in Symbols PowerPoint ppt slide  design category | The best PowerPoint templates and backgrounds at  PresentationPro.com">
            <a:extLst>
              <a:ext uri="{FF2B5EF4-FFF2-40B4-BE49-F238E27FC236}">
                <a16:creationId xmlns:a16="http://schemas.microsoft.com/office/drawing/2014/main" id="{A7013C42-60B1-E4E1-E6FC-668049B9A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2033588"/>
            <a:ext cx="49530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336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TotalTime>
  <Words>911</Words>
  <Application>Microsoft Office PowerPoint</Application>
  <PresentationFormat>Widescreen</PresentationFormat>
  <Paragraphs>85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Consolas</vt:lpstr>
      <vt:lpstr>Times New Roman</vt:lpstr>
      <vt:lpstr>Times New Roman Bold</vt:lpstr>
      <vt:lpstr>Office Theme</vt:lpstr>
      <vt:lpstr>PowerPoint Presentation</vt:lpstr>
      <vt:lpstr>ABSTRACT</vt:lpstr>
      <vt:lpstr>EXISTING SYSTEM </vt:lpstr>
      <vt:lpstr>PROPOSED SYSTEM</vt:lpstr>
      <vt:lpstr>SYSTEM REQUIREMENTS</vt:lpstr>
      <vt:lpstr>SYSTEM ARCHITECTURE</vt:lpstr>
      <vt:lpstr>USE CASE DAIGRAM:</vt:lpstr>
      <vt:lpstr>CLASS DIAGRAM:</vt:lpstr>
      <vt:lpstr>SEQUENCE DIAGRAM:</vt:lpstr>
      <vt:lpstr>PowerPoint Presentation</vt:lpstr>
      <vt:lpstr>PowerPoint Presentation</vt:lpstr>
      <vt:lpstr>OUTPUT SCREEN-1</vt:lpstr>
      <vt:lpstr>OUTPUT SCREEN-2</vt:lpstr>
      <vt:lpstr>OUTPUT SCREEN-3</vt:lpstr>
      <vt:lpstr>OUTPUT SCREEN-4</vt:lpstr>
      <vt:lpstr>CONCLUSION</vt:lpstr>
      <vt:lpstr>FUTURE ENHANCEMENT</vt:lpstr>
      <vt:lpstr>        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KURRA NAGASAI</dc:creator>
  <cp:lastModifiedBy>Abhilash Bojja</cp:lastModifiedBy>
  <cp:revision>27</cp:revision>
  <dcterms:created xsi:type="dcterms:W3CDTF">2025-10-11T04:55:38Z</dcterms:created>
  <dcterms:modified xsi:type="dcterms:W3CDTF">2026-04-04T03:29:18Z</dcterms:modified>
</cp:coreProperties>
</file>